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1F38"/>
          </a:solidFill>
          <a:ln/>
        </p:spPr>
      </p:sp>
      <p:sp>
        <p:nvSpPr>
          <p:cNvPr id="3" name="Shape 1"/>
          <p:cNvSpPr/>
          <p:nvPr/>
        </p:nvSpPr>
        <p:spPr>
          <a:xfrm>
            <a:off x="4160520" y="1005840"/>
            <a:ext cx="320040" cy="3154680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4" name="Shape 2"/>
          <p:cNvSpPr/>
          <p:nvPr/>
        </p:nvSpPr>
        <p:spPr>
          <a:xfrm>
            <a:off x="4133088" y="1508760"/>
            <a:ext cx="374904" cy="64008"/>
          </a:xfrm>
          <a:prstGeom prst="rect">
            <a:avLst/>
          </a:prstGeom>
          <a:solidFill>
            <a:srgbClr val="121F38"/>
          </a:solidFill>
          <a:ln/>
        </p:spPr>
      </p:sp>
      <p:sp>
        <p:nvSpPr>
          <p:cNvPr id="5" name="Shape 3"/>
          <p:cNvSpPr/>
          <p:nvPr/>
        </p:nvSpPr>
        <p:spPr>
          <a:xfrm>
            <a:off x="4133088" y="2057400"/>
            <a:ext cx="374904" cy="64008"/>
          </a:xfrm>
          <a:prstGeom prst="rect">
            <a:avLst/>
          </a:prstGeom>
          <a:solidFill>
            <a:srgbClr val="121F38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0" y="896112"/>
            <a:ext cx="411480" cy="128016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005840"/>
            <a:ext cx="320040" cy="3154680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8" name="Shape 6"/>
          <p:cNvSpPr/>
          <p:nvPr/>
        </p:nvSpPr>
        <p:spPr>
          <a:xfrm>
            <a:off x="7379208" y="1508760"/>
            <a:ext cx="374904" cy="64008"/>
          </a:xfrm>
          <a:prstGeom prst="rect">
            <a:avLst/>
          </a:prstGeom>
          <a:solidFill>
            <a:srgbClr val="121F38"/>
          </a:solidFill>
          <a:ln/>
        </p:spPr>
      </p:sp>
      <p:sp>
        <p:nvSpPr>
          <p:cNvPr id="9" name="Shape 7"/>
          <p:cNvSpPr/>
          <p:nvPr/>
        </p:nvSpPr>
        <p:spPr>
          <a:xfrm>
            <a:off x="7379208" y="2057400"/>
            <a:ext cx="374904" cy="64008"/>
          </a:xfrm>
          <a:prstGeom prst="rect">
            <a:avLst/>
          </a:prstGeom>
          <a:solidFill>
            <a:srgbClr val="121F38"/>
          </a:solidFill>
          <a:ln/>
        </p:spPr>
      </p:sp>
      <p:sp>
        <p:nvSpPr>
          <p:cNvPr id="10" name="Shape 8"/>
          <p:cNvSpPr/>
          <p:nvPr/>
        </p:nvSpPr>
        <p:spPr>
          <a:xfrm>
            <a:off x="7360920" y="896112"/>
            <a:ext cx="411480" cy="128016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3977640"/>
            <a:ext cx="11247120" cy="82296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4178808"/>
            <a:ext cx="11247120" cy="27432"/>
          </a:xfrm>
          <a:prstGeom prst="rect">
            <a:avLst/>
          </a:prstGeom>
          <a:solidFill>
            <a:srgbClr val="5B6B85"/>
          </a:solidFill>
          <a:ln/>
        </p:spPr>
      </p:sp>
      <p:sp>
        <p:nvSpPr>
          <p:cNvPr id="13" name="Shape 11"/>
          <p:cNvSpPr/>
          <p:nvPr/>
        </p:nvSpPr>
        <p:spPr>
          <a:xfrm rot="863385">
            <a:off x="548640" y="4007815"/>
            <a:ext cx="185113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57599">
            <a:off x="705803" y="4048138"/>
            <a:ext cx="182113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42669">
            <a:off x="862965" y="4073855"/>
            <a:ext cx="180415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-76382">
            <a:off x="1020128" y="4084968"/>
            <a:ext cx="180061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-394126">
            <a:off x="1177290" y="4081475"/>
            <a:ext cx="181061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705265">
            <a:off x="1334453" y="4063378"/>
            <a:ext cx="183389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1005140">
            <a:off x="1491615" y="4030675"/>
            <a:ext cx="186988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-1290086">
            <a:off x="1648778" y="3983368"/>
            <a:ext cx="191778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-1557600">
            <a:off x="1805940" y="3921455"/>
            <a:ext cx="197660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-1806304">
            <a:off x="1963103" y="3844938"/>
            <a:ext cx="204528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-2035788">
            <a:off x="2120265" y="3753815"/>
            <a:ext cx="212276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-2246383">
            <a:off x="2277428" y="3648088"/>
            <a:ext cx="220799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-2438935">
            <a:off x="2434590" y="3527755"/>
            <a:ext cx="230003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-2614608">
            <a:off x="2591753" y="3392818"/>
            <a:ext cx="239800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-2774722">
            <a:off x="2748915" y="3243275"/>
            <a:ext cx="250114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-2920648">
            <a:off x="2906078" y="3079128"/>
            <a:ext cx="260878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3053731">
            <a:off x="3063240" y="2900375"/>
            <a:ext cx="272033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3175244">
            <a:off x="3220403" y="2707018"/>
            <a:ext cx="283529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-3286367">
            <a:off x="3377565" y="2499055"/>
            <a:ext cx="295323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-3388172">
            <a:off x="3534728" y="2276488"/>
            <a:ext cx="307379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-3481626">
            <a:off x="3691890" y="2039315"/>
            <a:ext cx="319663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3567594">
            <a:off x="3849052" y="1787538"/>
            <a:ext cx="332149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3646845">
            <a:off x="4006215" y="1521155"/>
            <a:ext cx="344813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3720062">
            <a:off x="4163377" y="1240168"/>
            <a:ext cx="357636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3685221">
            <a:off x="4320540" y="944575"/>
            <a:ext cx="305595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3550684">
            <a:off x="4455795" y="1192860"/>
            <a:ext cx="286838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3395846">
            <a:off x="4591050" y="1419555"/>
            <a:ext cx="268547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3216533">
            <a:off x="4726305" y="1624660"/>
            <a:ext cx="250833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3007691">
            <a:off x="4861560" y="1808175"/>
            <a:ext cx="233843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63361">
            <a:off x="4996815" y="1970100"/>
            <a:ext cx="217765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2476860">
            <a:off x="5132070" y="2110435"/>
            <a:ext cx="202844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141404">
            <a:off x="5267325" y="2229180"/>
            <a:ext cx="189392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751487">
            <a:off x="5402580" y="2326335"/>
            <a:ext cx="177792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305301">
            <a:off x="5537835" y="2401900"/>
            <a:ext cx="168487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807912">
            <a:off x="5673090" y="2455875"/>
            <a:ext cx="161938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3794">
            <a:off x="5808345" y="2488260"/>
            <a:ext cx="158545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-273794">
            <a:off x="5943600" y="2499055"/>
            <a:ext cx="158545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-807912">
            <a:off x="6078855" y="2488260"/>
            <a:ext cx="161938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-1305301">
            <a:off x="6214110" y="2455875"/>
            <a:ext cx="168487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1751487">
            <a:off x="6349365" y="2401900"/>
            <a:ext cx="177792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-2141404">
            <a:off x="6484620" y="2326335"/>
            <a:ext cx="189392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-2476860">
            <a:off x="6619875" y="2229180"/>
            <a:ext cx="202844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-2763361">
            <a:off x="6755130" y="2110435"/>
            <a:ext cx="217765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-3007691">
            <a:off x="6890385" y="1970100"/>
            <a:ext cx="233843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-3216533">
            <a:off x="7025640" y="1808175"/>
            <a:ext cx="250833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-3395846">
            <a:off x="7160895" y="1624660"/>
            <a:ext cx="268547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3550684">
            <a:off x="7296150" y="1419555"/>
            <a:ext cx="286838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-3685221">
            <a:off x="7431405" y="1192860"/>
            <a:ext cx="305595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3618092">
            <a:off x="7566660" y="944575"/>
            <a:ext cx="363152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3542175">
            <a:off x="7735253" y="1240168"/>
            <a:ext cx="350545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3460226">
            <a:off x="7903845" y="1521155"/>
            <a:ext cx="338111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3371603">
            <a:off x="8072438" y="1787538"/>
            <a:ext cx="325870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3275588">
            <a:off x="8241030" y="2039315"/>
            <a:ext cx="313848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3171388">
            <a:off x="8409623" y="2276488"/>
            <a:ext cx="302073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3058126">
            <a:off x="8578215" y="2499055"/>
            <a:ext cx="290576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934848">
            <a:off x="8746808" y="2707018"/>
            <a:ext cx="279396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800527">
            <a:off x="8915400" y="2900375"/>
            <a:ext cx="268575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2654079">
            <a:off x="9083993" y="3079128"/>
            <a:ext cx="258164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494392">
            <a:off x="9252585" y="3243275"/>
            <a:ext cx="248218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320378">
            <a:off x="9421178" y="3392818"/>
            <a:ext cx="238803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131036">
            <a:off x="9589770" y="3527755"/>
            <a:ext cx="229991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1925555">
            <a:off x="9758363" y="3648088"/>
            <a:ext cx="221862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1703446">
            <a:off x="9926955" y="3753815"/>
            <a:ext cx="214502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1464686">
            <a:off x="10095547" y="3844938"/>
            <a:ext cx="208004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1209890">
            <a:off x="10264140" y="3921455"/>
            <a:ext cx="202461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940456">
            <a:off x="10432733" y="3983368"/>
            <a:ext cx="197964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658653">
            <a:off x="10601325" y="4030675"/>
            <a:ext cx="194595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367616">
            <a:off x="10769918" y="4063378"/>
            <a:ext cx="192421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71205">
            <a:off x="10938510" y="4081475"/>
            <a:ext cx="191489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-226266">
            <a:off x="11107103" y="4084968"/>
            <a:ext cx="191818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-520390">
            <a:off x="11275695" y="4073855"/>
            <a:ext cx="193403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-807050">
            <a:off x="11444288" y="4048138"/>
            <a:ext cx="196207" cy="31090"/>
          </a:xfrm>
          <a:prstGeom prst="rect">
            <a:avLst/>
          </a:prstGeom>
          <a:solidFill>
            <a:srgbClr val="E8E6E1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" y="4892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GATE BRIDGE</a:t>
            </a:r>
            <a:endParaRPr lang="en-US" sz="4000" dirty="0"/>
          </a:p>
        </p:txBody>
      </p:sp>
      <p:sp>
        <p:nvSpPr>
          <p:cNvPr id="86" name="Text 84"/>
          <p:cNvSpPr/>
          <p:nvPr/>
        </p:nvSpPr>
        <p:spPr>
          <a:xfrm>
            <a:off x="457200" y="55778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C03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ICON OF AMERICAN ENGINEERING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NUMBERS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landmark of scale for its era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8E6E1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4231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1691640" cy="18288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862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length of the bridge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24231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11880" y="32004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1880" y="3657600"/>
            <a:ext cx="1691640" cy="18288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38862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 of each tower above water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4231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4,200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92240" y="32004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3657600"/>
            <a:ext cx="1691640" cy="18288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8862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the main suspension span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89720" y="192024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E8E6E1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72600" y="24231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0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1937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372600" y="32004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72600" y="3657600"/>
            <a:ext cx="1691640" cy="18288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23" name="Text 21"/>
          <p:cNvSpPr/>
          <p:nvPr/>
        </p:nvSpPr>
        <p:spPr>
          <a:xfrm>
            <a:off x="9372600" y="388620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the bridge opened to traffic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Golden Gate Bridge, Highway &amp; Transportation District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3774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AGAINST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ODDS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said the strait's currents and winds made a bridge impossible. Chief Engineer Joseph Strauss led the project anyway, with major design input from Leon Moisseiff, Irving Morrow, and Charles Ellis.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26280" y="868680"/>
            <a:ext cx="146304" cy="146304"/>
          </a:xfrm>
          <a:prstGeom prst="ellipse">
            <a:avLst/>
          </a:prstGeom>
          <a:solidFill>
            <a:srgbClr val="C0362C"/>
          </a:solidFill>
          <a:ln w="12700">
            <a:solidFill>
              <a:srgbClr val="C036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81144" y="1051560"/>
            <a:ext cx="18288" cy="109728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7498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26480" y="74980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engineer Joseph Strauss is asked to study a Golden Gate crossing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2240280"/>
            <a:ext cx="146304" cy="146304"/>
          </a:xfrm>
          <a:prstGeom prst="ellipse">
            <a:avLst/>
          </a:prstGeom>
          <a:solidFill>
            <a:srgbClr val="C0362C"/>
          </a:solidFill>
          <a:ln w="12700">
            <a:solidFill>
              <a:srgbClr val="C036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1144" y="2423160"/>
            <a:ext cx="18288" cy="109728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1214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6480" y="212140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begins on the strait's swift currents and deep water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3611880"/>
            <a:ext cx="146304" cy="146304"/>
          </a:xfrm>
          <a:prstGeom prst="ellipse">
            <a:avLst/>
          </a:prstGeom>
          <a:solidFill>
            <a:srgbClr val="C0362C"/>
          </a:solidFill>
          <a:ln w="12700">
            <a:solidFill>
              <a:srgbClr val="C036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81144" y="3794760"/>
            <a:ext cx="18288" cy="1097280"/>
          </a:xfrm>
          <a:prstGeom prst="rect">
            <a:avLst/>
          </a:prstGeom>
          <a:solidFill>
            <a:srgbClr val="E8E6E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4930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6480" y="349300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opens to the public after four years of construction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4983480"/>
            <a:ext cx="146304" cy="146304"/>
          </a:xfrm>
          <a:prstGeom prst="ellipse">
            <a:avLst/>
          </a:prstGeom>
          <a:solidFill>
            <a:srgbClr val="C0362C"/>
          </a:solidFill>
          <a:ln w="12700">
            <a:solidFill>
              <a:srgbClr val="C036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486460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1987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26480" y="486460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marks its 50th anniversary with a celebratory walk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6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MEETS ART DECO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architect Irving Morrow gave the towers their stepped, vertical Art Deco profile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28600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cables, each about 3 feet thick, drape between the towers and anchor into concrete at each shore.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03720" y="18745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ROADWAY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228600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deck was engineered to sway and flex, letting the span absorb strong winds and seismic movement.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1605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 DECO TOWERS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57200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ribbing and stepped, tapering profiles reflect the era's architectural style rather than pure function.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4206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416052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AT DEPTH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457200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south tower's foundation was sunk more than 100 feet below the water's surface, a first for its time.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</a:t>
            </a:r>
            <a:endParaRPr lang="en-US" sz="3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303520" y="82296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battleship gray?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303520" y="1746504"/>
            <a:ext cx="82296" cy="82296"/>
          </a:xfrm>
          <a:prstGeom prst="ellipse">
            <a:avLst/>
          </a:prstGeom>
          <a:solidFill>
            <a:srgbClr val="C0362C"/>
          </a:solidFill>
          <a:ln w="12700">
            <a:solidFill>
              <a:srgbClr val="C036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0" y="1581912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steel arrived from the factory primed in a burnt reddish-orange sealant, and consulting architect Irving Morrow liked it enough to keep it.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03520" y="2916936"/>
            <a:ext cx="82296" cy="82296"/>
          </a:xfrm>
          <a:prstGeom prst="ellipse">
            <a:avLst/>
          </a:prstGeom>
          <a:solidFill>
            <a:srgbClr val="C0362C"/>
          </a:solidFill>
          <a:ln w="12700">
            <a:solidFill>
              <a:srgbClr val="C036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2752344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Navy wanted the bridge striped in black and yellow for ship visibility; the Air Force pushed for red and white.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4087368"/>
            <a:ext cx="82296" cy="82296"/>
          </a:xfrm>
          <a:prstGeom prst="ellipse">
            <a:avLst/>
          </a:prstGeom>
          <a:solidFill>
            <a:srgbClr val="C0362C"/>
          </a:solidFill>
          <a:ln w="12700">
            <a:solidFill>
              <a:srgbClr val="C0362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3922776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Morrow argued the warm orange stood out beautifully against the strait's cool blue water, gray fog, and green hillsides.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0" y="5257800"/>
            <a:ext cx="82296" cy="82296"/>
          </a:xfrm>
          <a:prstGeom prst="ellipse">
            <a:avLst/>
          </a:prstGeom>
          <a:solidFill>
            <a:srgbClr val="C0362C"/>
          </a:solidFill>
          <a:ln w="12700">
            <a:solidFill>
              <a:srgbClr val="C036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5093208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color also improves visibility for passing ships in San Francisco's frequent fog.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GLOBAL ICON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 crossing — a symbol recognized around the world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E8E6E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54864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VISITORS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photographed structures on Earth, drawing visitors from every continent each year.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1B2A4A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2011680"/>
            <a:ext cx="457200" cy="54864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194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SCREEN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6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backdrop in film and television, instantly signaling 'San Francisco' to audiences worldwide.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E8E6E1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2011680"/>
            <a:ext cx="457200" cy="54864"/>
          </a:xfrm>
          <a:prstGeom prst="rect">
            <a:avLst/>
          </a:prstGeom>
          <a:solidFill>
            <a:srgbClr val="C0362C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21945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WONDER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27432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one of the Wonders of the Modern World by the American Society of Civil Engineers.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120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4864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Gate Bridge · Opened 1937 · San Francisco, California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2026-08-09T10:11:57Z</dcterms:created>
  <dcterms:modified xsi:type="dcterms:W3CDTF">2026-08-09T10:11:57Z</dcterms:modified>
</cp:coreProperties>
</file>